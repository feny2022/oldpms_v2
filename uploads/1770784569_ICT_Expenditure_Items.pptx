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7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9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66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5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38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77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5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90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5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769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5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10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060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63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379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5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ICT-Pertinent Expenditure Items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National Budget Circular 120 for FY 2015 Budget Preparation</a:t>
            </a:r>
          </a:p>
          <a:p>
            <a:r>
              <a:rPr dirty="0"/>
              <a:t>ANNEX A-6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41879"/>
            <a:ext cx="6798734" cy="1303867"/>
          </a:xfrm>
        </p:spPr>
        <p:txBody>
          <a:bodyPr>
            <a:normAutofit fontScale="90000"/>
          </a:bodyPr>
          <a:lstStyle/>
          <a:p>
            <a:r>
              <a:rPr b="1" dirty="0"/>
              <a:t>I. MOOE: Training and Supplies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813"/>
            <a:ext cx="7905750" cy="8434754"/>
          </a:xfrm>
        </p:spPr>
        <p:txBody>
          <a:bodyPr wrap="square"/>
          <a:lstStyle/>
          <a:p>
            <a:endParaRPr dirty="0"/>
          </a:p>
          <a:p>
            <a:pPr marL="457200" lvl="1" indent="0">
              <a:buNone/>
            </a:pPr>
            <a:r>
              <a:rPr lang="en-US" sz="2800" b="1" dirty="0"/>
              <a:t>	</a:t>
            </a:r>
            <a:r>
              <a:rPr sz="2800" b="1" dirty="0"/>
              <a:t>1.0 ICT Training Expenses:</a:t>
            </a:r>
            <a:endParaRPr lang="en-US" sz="2800" b="1" dirty="0"/>
          </a:p>
          <a:p>
            <a:endParaRPr sz="1400" dirty="0"/>
          </a:p>
          <a:p>
            <a:pPr lvl="1" algn="just"/>
            <a:r>
              <a:rPr sz="2800" dirty="0"/>
              <a:t>Systems Analysis and Design, Web Design, Development, Change Management, Users' Training, Executives' Training, IT Managers' Training, Project Management, Business Process and Reengineering, Procurement and Contract Management, Programming</a:t>
            </a:r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715312"/>
            <a:ext cx="6798734" cy="1303867"/>
          </a:xfrm>
        </p:spPr>
        <p:txBody>
          <a:bodyPr>
            <a:normAutofit fontScale="90000"/>
          </a:bodyPr>
          <a:lstStyle/>
          <a:p>
            <a:r>
              <a:rPr b="1" dirty="0"/>
              <a:t>I. MOOE: Training and Supplies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625" y="1367245"/>
            <a:ext cx="7524750" cy="5688354"/>
          </a:xfrm>
        </p:spPr>
        <p:txBody>
          <a:bodyPr wrap="square"/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b="1" dirty="0"/>
              <a:t>2.0 Supplies and Materials Expenses:</a:t>
            </a:r>
          </a:p>
          <a:p>
            <a:pPr marL="0" indent="0">
              <a:buNone/>
            </a:pPr>
            <a:endParaRPr lang="en-US" sz="1200" dirty="0"/>
          </a:p>
          <a:p>
            <a:pPr lvl="1" algn="just"/>
            <a:r>
              <a:rPr lang="en-US" sz="2800" dirty="0"/>
              <a:t>ICT Office Supplies (monitor, hard disk, toner, webcam, headset, digital camera, video card, printers, ink, flash drive, USB, IP phone, memory card, processor, keyboard, scanner, etc.)</a:t>
            </a:r>
          </a:p>
        </p:txBody>
      </p:sp>
    </p:spTree>
    <p:extLst>
      <p:ext uri="{BB962C8B-B14F-4D97-AF65-F5344CB8AC3E}">
        <p14:creationId xmlns:p14="http://schemas.microsoft.com/office/powerpoint/2010/main" val="100950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I. MOOE: Communication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328210"/>
            <a:ext cx="6798736" cy="3444997"/>
          </a:xfrm>
        </p:spPr>
        <p:txBody>
          <a:bodyPr wrap="square">
            <a:normAutofit fontScale="92500" lnSpcReduction="10000"/>
          </a:bodyPr>
          <a:lstStyle/>
          <a:p>
            <a:endParaRPr dirty="0"/>
          </a:p>
          <a:p>
            <a:r>
              <a:rPr dirty="0"/>
              <a:t>3.0 Communication Expenses:</a:t>
            </a:r>
          </a:p>
          <a:p>
            <a:pPr lvl="1"/>
            <a:r>
              <a:rPr dirty="0"/>
              <a:t>Telephone (mobile/landline), Internet Subscription, Cable, Satellite, Telegraph, and Radio</a:t>
            </a:r>
          </a:p>
          <a:p>
            <a:r>
              <a:rPr dirty="0"/>
              <a:t>4.0 Professional Services:</a:t>
            </a:r>
          </a:p>
          <a:p>
            <a:pPr lvl="1"/>
            <a:r>
              <a:rPr dirty="0"/>
              <a:t>ICT Consultancy Services (consultants, contracted services, outsourced services)</a:t>
            </a:r>
          </a:p>
          <a:p>
            <a:r>
              <a:rPr dirty="0"/>
              <a:t>5.0 General Services:</a:t>
            </a:r>
          </a:p>
          <a:p>
            <a:pPr lvl="1"/>
            <a:r>
              <a:rPr dirty="0"/>
              <a:t>Maintenance of existing ICT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I. MOOE: Repairs and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213789"/>
            <a:ext cx="6798736" cy="3444997"/>
          </a:xfrm>
        </p:spPr>
        <p:txBody>
          <a:bodyPr wrap="square">
            <a:normAutofit lnSpcReduction="10000"/>
          </a:bodyPr>
          <a:lstStyle/>
          <a:p>
            <a:endParaRPr dirty="0"/>
          </a:p>
          <a:p>
            <a:r>
              <a:rPr dirty="0"/>
              <a:t>6.0 Repairs and Maintenance:</a:t>
            </a:r>
          </a:p>
          <a:p>
            <a:pPr lvl="1"/>
            <a:r>
              <a:rPr dirty="0"/>
              <a:t>ICT Infrastructure (networks, data center, storage), ICT Office Equipment (desktops, tablets, printers, software), and Leased Equipment</a:t>
            </a:r>
          </a:p>
          <a:p>
            <a:r>
              <a:rPr dirty="0"/>
              <a:t>7.0 Other MOOE:</a:t>
            </a:r>
          </a:p>
          <a:p>
            <a:pPr lvl="1"/>
            <a:r>
              <a:rPr dirty="0"/>
              <a:t>Rent/Lease (Office Equipment and Infrastructure), and Subscription Expenses (Software, Data Center, Cloud Computing)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II. Capital Outlays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251889"/>
            <a:ext cx="6798736" cy="3444997"/>
          </a:xfrm>
        </p:spPr>
        <p:txBody>
          <a:bodyPr wrap="square"/>
          <a:lstStyle/>
          <a:p>
            <a:endParaRPr dirty="0"/>
          </a:p>
          <a:p>
            <a:r>
              <a:rPr dirty="0"/>
              <a:t>1.0 Office Equipment, Furniture, and Fixtures:</a:t>
            </a:r>
          </a:p>
          <a:p>
            <a:pPr lvl="1"/>
            <a:r>
              <a:rPr dirty="0"/>
              <a:t>ICT Office Equipment (desktops, mobile devices, printers, network devices) and ICT Software (productivity, network/database management)</a:t>
            </a:r>
          </a:p>
          <a:p>
            <a:r>
              <a:rPr dirty="0"/>
              <a:t>2.0 Machineries and Equipment:</a:t>
            </a:r>
          </a:p>
          <a:p>
            <a:pPr lvl="1"/>
            <a:r>
              <a:rPr dirty="0"/>
              <a:t>ICT Infrastructure for communication networks, data centers, and storage facilities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295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ICT-Pertinent Expenditure Items</vt:lpstr>
      <vt:lpstr>I. MOOE: Training and Supplies</vt:lpstr>
      <vt:lpstr>I. MOOE: Training and Supplies</vt:lpstr>
      <vt:lpstr>I. MOOE: Communication and Services</vt:lpstr>
      <vt:lpstr>I. MOOE: Repairs and Other</vt:lpstr>
      <vt:lpstr>II. Capital Outlays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ICT-Pertinent Expenditure Items</dc:title>
  <dc:subject/>
  <dc:creator/>
  <cp:keywords/>
  <dc:description>generated using python-pptx</dc:description>
  <cp:lastModifiedBy>ANTHONIE FENY CATALAN</cp:lastModifiedBy>
  <cp:revision>6</cp:revision>
  <dcterms:created xsi:type="dcterms:W3CDTF">2013-01-27T09:14:16Z</dcterms:created>
  <dcterms:modified xsi:type="dcterms:W3CDTF">2026-02-11T00:34:39Z</dcterms:modified>
  <cp:category/>
</cp:coreProperties>
</file>